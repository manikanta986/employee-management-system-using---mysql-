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8" r:id="rId28"/>
    <p:sldId id="284" r:id="rId29"/>
    <p:sldId id="285" r:id="rId30"/>
    <p:sldId id="286" r:id="rId31"/>
    <p:sldId id="259" r:id="rId32"/>
  </p:sldIdLst>
  <p:sldSz cx="12192000" cy="6858000"/>
  <p:notesSz cx="6858000" cy="9144000"/>
  <p:embeddedFontLst>
    <p:embeddedFont>
      <p:font typeface="Aptos Black" panose="020B0004020202020204" pitchFamily="34" charset="0"/>
      <p:bold r:id="rId34"/>
      <p:boldItalic r:id="rId35"/>
    </p:embeddedFont>
    <p:embeddedFont>
      <p:font typeface="Libre Baskerville" panose="02000000000000000000" pitchFamily="2" charset="0"/>
      <p:regular r:id="rId36"/>
      <p:bold r:id="rId37"/>
      <p: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2328"/>
    <a:srgbClr val="EE7073"/>
    <a:srgbClr val="484343"/>
    <a:srgbClr val="8986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8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312" y="3142097"/>
            <a:ext cx="7246189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36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IN" sz="36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Employee Management System </a:t>
            </a:r>
            <a:r>
              <a:rPr lang="en-IN" sz="32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Using MySQL</a:t>
            </a:r>
            <a:endParaRPr sz="32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856564-2D83-0F5B-CCF5-1A2B8AA44EB1}"/>
              </a:ext>
            </a:extLst>
          </p:cNvPr>
          <p:cNvSpPr txBox="1"/>
          <p:nvPr/>
        </p:nvSpPr>
        <p:spPr>
          <a:xfrm>
            <a:off x="3090042" y="4896383"/>
            <a:ext cx="5659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Bolla Sai Durga Siva Manikanta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56657" y="772962"/>
            <a:ext cx="7007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3200" b="1" i="0" u="none" strike="noStrike" cap="none" dirty="0">
                <a:solidFill>
                  <a:srgbClr val="FF0000"/>
                </a:solidFill>
                <a:latin typeface="+mj-lt"/>
                <a:ea typeface="Calibri"/>
                <a:cs typeface="Calibri"/>
                <a:sym typeface="Calibri"/>
              </a:rPr>
              <a:t>Why Data Science</a:t>
            </a:r>
            <a:endParaRPr sz="3200" b="1" i="0" u="none" strike="noStrike" cap="none" dirty="0">
              <a:solidFill>
                <a:srgbClr val="FF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C272E6-132A-0C10-AA7C-90F0110D79F1}"/>
              </a:ext>
            </a:extLst>
          </p:cNvPr>
          <p:cNvSpPr txBox="1"/>
          <p:nvPr/>
        </p:nvSpPr>
        <p:spPr>
          <a:xfrm>
            <a:off x="556657" y="1785668"/>
            <a:ext cx="103344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 Science helps organizations turn large amounts of raw data into meaningful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enables smarter decision-making, predicts future trends, and improves business efficiency.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By solving real-world problems across industries, it drives innovation and growth.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 data continues to grow, Data Science has become essential and highly in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6EE14-8C5A-27A4-A000-68ADB9706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Objective of the Project: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7B1D4-0B1E-1989-79D6-88E4DEE03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The main objective of this project is to analyze employee-related data using SQL to gain meaningful insights into workforce management and business operations.</a:t>
            </a:r>
          </a:p>
          <a:p>
            <a:r>
              <a:rPr lang="en-US" sz="2400" dirty="0"/>
              <a:t>It focuses on understanding employee distribution, salary structure, job roles, qualifications, leave patterns, and overall payroll performance.</a:t>
            </a:r>
          </a:p>
          <a:p>
            <a:r>
              <a:rPr lang="en-US" sz="2400" dirty="0"/>
              <a:t>By examining relationships between different tables such as JobDepartment, Employee, SalaryBonus, Qualification, Leaves, and Payroll, the project aims to identify trends that can support better decision-making in human resource planning and financial management.</a:t>
            </a:r>
          </a:p>
          <a:p>
            <a:r>
              <a:rPr lang="en-US" sz="2400" dirty="0"/>
              <a:t>Ultimately, the goal is to transform raw employee data into actionable insights that enhance organizational efficiency and employee productivity.</a:t>
            </a:r>
          </a:p>
        </p:txBody>
      </p:sp>
    </p:spTree>
    <p:extLst>
      <p:ext uri="{BB962C8B-B14F-4D97-AF65-F5344CB8AC3E}">
        <p14:creationId xmlns:p14="http://schemas.microsoft.com/office/powerpoint/2010/main" val="36853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41798B-163A-AB53-23D1-A66E27EFA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4" y="755072"/>
            <a:ext cx="10945091" cy="534785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14C05A-C3EA-806B-0637-1D0BE031796E}"/>
              </a:ext>
            </a:extLst>
          </p:cNvPr>
          <p:cNvSpPr txBox="1"/>
          <p:nvPr/>
        </p:nvSpPr>
        <p:spPr>
          <a:xfrm>
            <a:off x="484909" y="0"/>
            <a:ext cx="3546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1830490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9C4DE9-B7C2-8E80-4FEB-BC3B6F63D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698" y="709454"/>
            <a:ext cx="7398503" cy="154135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B41D89-9A25-2AB5-8269-AA28CFFEB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516" y="4515146"/>
            <a:ext cx="7398503" cy="154135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EB9919-4EEA-94D4-8255-8D10129BE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9" y="2674916"/>
            <a:ext cx="6026647" cy="141612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66467C-3295-A865-0094-3D51AE2EA9FD}"/>
              </a:ext>
            </a:extLst>
          </p:cNvPr>
          <p:cNvSpPr txBox="1"/>
          <p:nvPr/>
        </p:nvSpPr>
        <p:spPr>
          <a:xfrm>
            <a:off x="304799" y="63123"/>
            <a:ext cx="2346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E5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06A0CC-CE09-8292-A734-FF4A8E8470CA}"/>
              </a:ext>
            </a:extLst>
          </p:cNvPr>
          <p:cNvSpPr txBox="1"/>
          <p:nvPr/>
        </p:nvSpPr>
        <p:spPr>
          <a:xfrm>
            <a:off x="1902691" y="1133561"/>
            <a:ext cx="20042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</a:rPr>
              <a:t>Employee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3F314E-5539-59DD-5B8D-ED925C517A1F}"/>
              </a:ext>
            </a:extLst>
          </p:cNvPr>
          <p:cNvSpPr txBox="1"/>
          <p:nvPr/>
        </p:nvSpPr>
        <p:spPr>
          <a:xfrm>
            <a:off x="7167419" y="3136932"/>
            <a:ext cx="18934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</a:rPr>
              <a:t>Payroll</a:t>
            </a:r>
          </a:p>
          <a:p>
            <a:endParaRPr 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AF1AC9-89EE-3176-E683-0FA1234636B1}"/>
              </a:ext>
            </a:extLst>
          </p:cNvPr>
          <p:cNvSpPr txBox="1"/>
          <p:nvPr/>
        </p:nvSpPr>
        <p:spPr>
          <a:xfrm>
            <a:off x="1108364" y="4848011"/>
            <a:ext cx="27986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</a:rPr>
              <a:t>Job</a:t>
            </a:r>
          </a:p>
          <a:p>
            <a:pPr algn="ctr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</a:rPr>
              <a:t>Department</a:t>
            </a:r>
            <a:endParaRPr lang="en-US" sz="2800" dirty="0"/>
          </a:p>
        </p:txBody>
      </p:sp>
      <p:sp>
        <p:nvSpPr>
          <p:cNvPr id="20" name="Arrow: Notched Right 19">
            <a:extLst>
              <a:ext uri="{FF2B5EF4-FFF2-40B4-BE49-F238E27FC236}">
                <a16:creationId xmlns:a16="http://schemas.microsoft.com/office/drawing/2014/main" id="{645BF4B3-D3AC-DC00-3EEA-A1BEFE878347}"/>
              </a:ext>
            </a:extLst>
          </p:cNvPr>
          <p:cNvSpPr/>
          <p:nvPr/>
        </p:nvSpPr>
        <p:spPr>
          <a:xfrm>
            <a:off x="3906982" y="5157825"/>
            <a:ext cx="341745" cy="255995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Notched Right 20">
            <a:extLst>
              <a:ext uri="{FF2B5EF4-FFF2-40B4-BE49-F238E27FC236}">
                <a16:creationId xmlns:a16="http://schemas.microsoft.com/office/drawing/2014/main" id="{9772B2F9-68F9-07BE-3668-9D4D5BA6B525}"/>
              </a:ext>
            </a:extLst>
          </p:cNvPr>
          <p:cNvSpPr/>
          <p:nvPr/>
        </p:nvSpPr>
        <p:spPr>
          <a:xfrm rot="10800000">
            <a:off x="6682428" y="3272717"/>
            <a:ext cx="383390" cy="237101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Notched Right 21">
            <a:extLst>
              <a:ext uri="{FF2B5EF4-FFF2-40B4-BE49-F238E27FC236}">
                <a16:creationId xmlns:a16="http://schemas.microsoft.com/office/drawing/2014/main" id="{478FEDF8-EC3F-236E-5007-964F1E93DB76}"/>
              </a:ext>
            </a:extLst>
          </p:cNvPr>
          <p:cNvSpPr/>
          <p:nvPr/>
        </p:nvSpPr>
        <p:spPr>
          <a:xfrm>
            <a:off x="3906982" y="1320800"/>
            <a:ext cx="341745" cy="212436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52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6A4A71-5044-97A6-E9F7-6BA0A15A3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23" y="4131169"/>
            <a:ext cx="4041998" cy="171544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F24D84-7641-46E8-064B-0D03397C1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973" y="1334971"/>
            <a:ext cx="5250053" cy="171544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EE6253-CB13-A017-31EE-9A17BE6AE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525" y="4131170"/>
            <a:ext cx="4184217" cy="171544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9384A9-C282-14B5-F7F0-BAC2EF7A823D}"/>
              </a:ext>
            </a:extLst>
          </p:cNvPr>
          <p:cNvSpPr txBox="1"/>
          <p:nvPr/>
        </p:nvSpPr>
        <p:spPr>
          <a:xfrm>
            <a:off x="4835237" y="271090"/>
            <a:ext cx="2706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</a:rPr>
              <a:t>Qualification</a:t>
            </a:r>
          </a:p>
        </p:txBody>
      </p:sp>
      <p:sp>
        <p:nvSpPr>
          <p:cNvPr id="14" name="Arrow: Notched Right 13">
            <a:extLst>
              <a:ext uri="{FF2B5EF4-FFF2-40B4-BE49-F238E27FC236}">
                <a16:creationId xmlns:a16="http://schemas.microsoft.com/office/drawing/2014/main" id="{5F2AC62F-2627-1109-5CCE-FCF7652BA6B7}"/>
              </a:ext>
            </a:extLst>
          </p:cNvPr>
          <p:cNvSpPr/>
          <p:nvPr/>
        </p:nvSpPr>
        <p:spPr>
          <a:xfrm rot="5400000">
            <a:off x="5841994" y="817683"/>
            <a:ext cx="323277" cy="221674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01F1D7-AD29-D824-C4A0-DDA03383113A}"/>
              </a:ext>
            </a:extLst>
          </p:cNvPr>
          <p:cNvSpPr txBox="1"/>
          <p:nvPr/>
        </p:nvSpPr>
        <p:spPr>
          <a:xfrm>
            <a:off x="2112670" y="3050416"/>
            <a:ext cx="17641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</a:rPr>
              <a:t>Leaves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5D95B1-D943-7FA0-9BFA-10683681F2B8}"/>
              </a:ext>
            </a:extLst>
          </p:cNvPr>
          <p:cNvSpPr txBox="1"/>
          <p:nvPr/>
        </p:nvSpPr>
        <p:spPr>
          <a:xfrm>
            <a:off x="8283251" y="3052832"/>
            <a:ext cx="2429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</a:rPr>
              <a:t>SalaryBonus</a:t>
            </a:r>
          </a:p>
        </p:txBody>
      </p:sp>
      <p:sp>
        <p:nvSpPr>
          <p:cNvPr id="18" name="Arrow: Notched Right 17">
            <a:extLst>
              <a:ext uri="{FF2B5EF4-FFF2-40B4-BE49-F238E27FC236}">
                <a16:creationId xmlns:a16="http://schemas.microsoft.com/office/drawing/2014/main" id="{32FEB63E-DFBE-ECF5-8B8D-298C18A24B01}"/>
              </a:ext>
            </a:extLst>
          </p:cNvPr>
          <p:cNvSpPr/>
          <p:nvPr/>
        </p:nvSpPr>
        <p:spPr>
          <a:xfrm rot="5400000">
            <a:off x="2565249" y="3682897"/>
            <a:ext cx="360218" cy="230128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752748-4F14-6F21-BC3A-A533F68EC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4564" y="3569603"/>
            <a:ext cx="286537" cy="4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191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BDB503-71A6-FBDD-0A92-B2027E989AAD}"/>
              </a:ext>
            </a:extLst>
          </p:cNvPr>
          <p:cNvSpPr txBox="1"/>
          <p:nvPr/>
        </p:nvSpPr>
        <p:spPr>
          <a:xfrm>
            <a:off x="332509" y="519574"/>
            <a:ext cx="282632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>
                <a:solidFill>
                  <a:srgbClr val="FF0000"/>
                </a:solidFill>
              </a:rPr>
              <a:t>Query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26F90-984F-2822-37DC-366CA4682578}"/>
              </a:ext>
            </a:extLst>
          </p:cNvPr>
          <p:cNvSpPr txBox="1"/>
          <p:nvPr/>
        </p:nvSpPr>
        <p:spPr>
          <a:xfrm>
            <a:off x="332509" y="1376203"/>
            <a:ext cx="9679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Aptos Black" panose="020B0004020202020204" pitchFamily="34" charset="0"/>
              </a:rPr>
              <a:t>How many unique employees are currently in the system?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4B525D-3C4E-9308-4E07-8FB219275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87" y="4094901"/>
            <a:ext cx="2281429" cy="16714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7DF2FB-396D-7BCA-751F-35EE78E51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87" y="2155888"/>
            <a:ext cx="9036449" cy="17925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33435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682F61-4311-839A-799C-00B9DDBA9358}"/>
              </a:ext>
            </a:extLst>
          </p:cNvPr>
          <p:cNvSpPr txBox="1"/>
          <p:nvPr/>
        </p:nvSpPr>
        <p:spPr>
          <a:xfrm>
            <a:off x="434108" y="1357745"/>
            <a:ext cx="9522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Which departments have the highest number of employees?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713E89-5918-D17F-69C7-76510DFD1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38" y="483398"/>
            <a:ext cx="2956816" cy="774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09E38B-029E-A427-8F9D-D899E28D9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83" y="4071724"/>
            <a:ext cx="2620344" cy="22053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909347-0B49-0F07-AABE-ADB3F51A3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83" y="1945434"/>
            <a:ext cx="8670162" cy="20002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26518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0A82BF-B0E6-8489-AC20-F63E3722C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56" y="437216"/>
            <a:ext cx="2956816" cy="7742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8880B4-0828-E5EB-5900-AA231379A80F}"/>
              </a:ext>
            </a:extLst>
          </p:cNvPr>
          <p:cNvSpPr txBox="1"/>
          <p:nvPr/>
        </p:nvSpPr>
        <p:spPr>
          <a:xfrm>
            <a:off x="350982" y="1348509"/>
            <a:ext cx="8155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What is the average salary per department?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692A90-63A0-8C6B-5E30-C5747D5A6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12" y="1947208"/>
            <a:ext cx="8155709" cy="21260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A4BF72-68E2-5ED7-6315-6299CCE2B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12" y="4177756"/>
            <a:ext cx="2483833" cy="21260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77780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350AAB-4B79-A9FE-C306-860FBEAC9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75" y="446452"/>
            <a:ext cx="2956816" cy="7742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A6BA92-1050-AC25-CCE8-F552FDCBF120}"/>
              </a:ext>
            </a:extLst>
          </p:cNvPr>
          <p:cNvSpPr txBox="1"/>
          <p:nvPr/>
        </p:nvSpPr>
        <p:spPr>
          <a:xfrm>
            <a:off x="332508" y="1311412"/>
            <a:ext cx="9374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Who are the top 5 highest-paid employees?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DE92DA-8156-D70B-EB32-D5BEE02B0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67" y="2205216"/>
            <a:ext cx="7692098" cy="19326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C79C15-B7A7-2ADE-FAE0-0D5FAD5A1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11" y="4311038"/>
            <a:ext cx="2817156" cy="17387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60851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CBD2CC-140C-2B9B-D200-AC16D475C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464925"/>
            <a:ext cx="2956816" cy="7742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6F6987-B17A-A469-8CE2-AD7F0A730171}"/>
              </a:ext>
            </a:extLst>
          </p:cNvPr>
          <p:cNvSpPr txBox="1"/>
          <p:nvPr/>
        </p:nvSpPr>
        <p:spPr>
          <a:xfrm>
            <a:off x="397164" y="1405438"/>
            <a:ext cx="973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What is the total salary expenditure across the company?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BE52DF-1DC5-50DB-96C5-5439D7BB2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19" y="2289411"/>
            <a:ext cx="8813925" cy="18787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D961E7-2BD1-2863-892E-5893A0637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19" y="4285677"/>
            <a:ext cx="2560562" cy="1320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16218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A5D880-A0A8-7779-2559-415D65F7B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464925"/>
            <a:ext cx="2956816" cy="7742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D29878-8A78-F990-E9D0-9213592CB91B}"/>
              </a:ext>
            </a:extLst>
          </p:cNvPr>
          <p:cNvSpPr txBox="1"/>
          <p:nvPr/>
        </p:nvSpPr>
        <p:spPr>
          <a:xfrm>
            <a:off x="397164" y="1405438"/>
            <a:ext cx="973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 How many different job roles exist in each department?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C354E0-E9A6-9FA2-2CE0-5DED5FB2C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92" y="2107127"/>
            <a:ext cx="8635253" cy="16613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BD5919-CB65-D1D2-1EE5-59CBF9CCF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92" y="3883847"/>
            <a:ext cx="2595262" cy="20952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23439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0083C0-7ADD-BB32-446C-24C44D52A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464925"/>
            <a:ext cx="2956816" cy="7742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2BEFE2-9FF4-7221-BB73-7617BEE0B304}"/>
              </a:ext>
            </a:extLst>
          </p:cNvPr>
          <p:cNvSpPr txBox="1"/>
          <p:nvPr/>
        </p:nvSpPr>
        <p:spPr>
          <a:xfrm>
            <a:off x="397164" y="1405438"/>
            <a:ext cx="973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What is the average salary range per department?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D5C688-BA23-2C23-EE7C-34491407F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34" y="2033357"/>
            <a:ext cx="7804127" cy="19013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44522F-BE7A-4714-2CBB-3D486272A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34" y="4055875"/>
            <a:ext cx="2384821" cy="19367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20792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EC025C-5683-65E0-42C5-10D36DBD6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464925"/>
            <a:ext cx="2956816" cy="7742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459D12-901B-4D6B-3C7D-88DAE93D4128}"/>
              </a:ext>
            </a:extLst>
          </p:cNvPr>
          <p:cNvSpPr txBox="1"/>
          <p:nvPr/>
        </p:nvSpPr>
        <p:spPr>
          <a:xfrm>
            <a:off x="397164" y="1405438"/>
            <a:ext cx="973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Which job roles offer the highest salary?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2C2AA8-FCEE-8758-5969-7FD21819A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40" y="2203387"/>
            <a:ext cx="7952341" cy="16943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F4805D-DCEF-CE64-C5BB-62FE849DD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40" y="4020279"/>
            <a:ext cx="3507826" cy="16231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8414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75A49B-5FDA-3B88-6AAC-5BFCAF7EA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464925"/>
            <a:ext cx="2956816" cy="7742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C214B5-499D-A2B3-8C82-270898619A25}"/>
              </a:ext>
            </a:extLst>
          </p:cNvPr>
          <p:cNvSpPr txBox="1"/>
          <p:nvPr/>
        </p:nvSpPr>
        <p:spPr>
          <a:xfrm>
            <a:off x="397164" y="1405438"/>
            <a:ext cx="973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Which departments have the highest total salary allocation?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C229C3-A162-BFF6-F8EE-79BD30E35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21" y="2321545"/>
            <a:ext cx="8672770" cy="19859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57FCBD-14A3-4BD9-3C9F-4EED390FA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20" y="4425618"/>
            <a:ext cx="2595833" cy="19951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28436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9139D8-7A19-10DA-DA55-C26E9FFD2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464925"/>
            <a:ext cx="2956816" cy="7742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E61E50-FBD2-CF14-DAC4-212AC57213B3}"/>
              </a:ext>
            </a:extLst>
          </p:cNvPr>
          <p:cNvSpPr txBox="1"/>
          <p:nvPr/>
        </p:nvSpPr>
        <p:spPr>
          <a:xfrm>
            <a:off x="397164" y="1405438"/>
            <a:ext cx="973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How many employees have at least one qualification listed?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7714A4-4BDE-7A51-539C-95E2998D7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93" y="2240369"/>
            <a:ext cx="8113116" cy="14634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91BCD3-C8DD-7A13-D862-E13553DE5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93" y="3827622"/>
            <a:ext cx="3182922" cy="14634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57497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FC8078-9E62-BA3F-705B-2CBF0A89A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464925"/>
            <a:ext cx="2956816" cy="7742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E45888-45D3-2600-58BA-51CFD663EF6D}"/>
              </a:ext>
            </a:extLst>
          </p:cNvPr>
          <p:cNvSpPr txBox="1"/>
          <p:nvPr/>
        </p:nvSpPr>
        <p:spPr>
          <a:xfrm>
            <a:off x="397164" y="1405438"/>
            <a:ext cx="973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Which positions require the most qualifications?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68BBAE-738A-B1A1-4863-55C60CB15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81" y="2336744"/>
            <a:ext cx="8012674" cy="17578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8860C6-9B80-9F78-9C00-F09CD69BE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81" y="4203368"/>
            <a:ext cx="3320601" cy="21683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72851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ED4589-9C94-8A21-4EC7-4E4F88C81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464925"/>
            <a:ext cx="2956816" cy="7742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58B108-3B6C-647A-6F89-63AD521991A4}"/>
              </a:ext>
            </a:extLst>
          </p:cNvPr>
          <p:cNvSpPr txBox="1"/>
          <p:nvPr/>
        </p:nvSpPr>
        <p:spPr>
          <a:xfrm>
            <a:off x="397164" y="1405438"/>
            <a:ext cx="973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Which employees have the highest number of qualifications?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02F41D-6DF3-7A9C-11E2-0B3B1E87A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55" y="2160462"/>
            <a:ext cx="9014690" cy="21067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EC335E-50B0-4DD9-DB13-D6D6673CE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55" y="4374266"/>
            <a:ext cx="2669899" cy="16955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54620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9894DC-B916-72BA-27CB-CC1A771E7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464925"/>
            <a:ext cx="2956816" cy="7742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D13ED7-96FE-3A74-DF01-1261BC77DA17}"/>
              </a:ext>
            </a:extLst>
          </p:cNvPr>
          <p:cNvSpPr txBox="1"/>
          <p:nvPr/>
        </p:nvSpPr>
        <p:spPr>
          <a:xfrm>
            <a:off x="397164" y="1405438"/>
            <a:ext cx="973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Which year had the most employees taking leaves?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5DBF55-269D-AB45-664F-9971FAF35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50" y="2275059"/>
            <a:ext cx="8325832" cy="19466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70369C-311B-2E0A-681D-8EEAD8AE3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50" y="4333559"/>
            <a:ext cx="3583163" cy="13929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03269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950B72-EC42-4FF6-5274-4F3ECAEF0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464925"/>
            <a:ext cx="2956816" cy="7742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AEFFDA-F150-54EC-A495-7EDD110C4F03}"/>
              </a:ext>
            </a:extLst>
          </p:cNvPr>
          <p:cNvSpPr txBox="1"/>
          <p:nvPr/>
        </p:nvSpPr>
        <p:spPr>
          <a:xfrm>
            <a:off x="397164" y="1405438"/>
            <a:ext cx="106125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What is the average number of leave days taken by its employees per department?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8C3D00-BC5A-6882-8FA2-8D42C7600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32" y="2402689"/>
            <a:ext cx="8758461" cy="18733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9A3EF2-C6DF-8DB6-718F-65648C61E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32" y="4379922"/>
            <a:ext cx="2507434" cy="17399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95041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772CB6-3459-B989-1ACE-025826645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464925"/>
            <a:ext cx="2956816" cy="7742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7E377F-EF7E-50D3-56B2-16B38BFBCFE5}"/>
              </a:ext>
            </a:extLst>
          </p:cNvPr>
          <p:cNvSpPr txBox="1"/>
          <p:nvPr/>
        </p:nvSpPr>
        <p:spPr>
          <a:xfrm>
            <a:off x="397164" y="1405438"/>
            <a:ext cx="973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Which employees have taken the most leaves?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85CC0-E27E-02B6-C37F-154322C07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48" y="2212939"/>
            <a:ext cx="10384388" cy="19064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A78370-FC9C-5124-58FF-A7BC1707A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47" y="4224436"/>
            <a:ext cx="3531007" cy="22352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02768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F1F188-2B1E-1224-8DE0-0AFDF1062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464925"/>
            <a:ext cx="2956816" cy="7742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A835FB-BDAB-1488-F59C-10042917F4CF}"/>
              </a:ext>
            </a:extLst>
          </p:cNvPr>
          <p:cNvSpPr txBox="1"/>
          <p:nvPr/>
        </p:nvSpPr>
        <p:spPr>
          <a:xfrm>
            <a:off x="397164" y="1405438"/>
            <a:ext cx="973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What is the total number of leave days taken company-wide?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86A4-6432-7C8D-9EA7-6BC578FC6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68" y="2296986"/>
            <a:ext cx="9114114" cy="15867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AAB559-AE94-5FCD-E4BD-4BD277B22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67" y="3986270"/>
            <a:ext cx="2343859" cy="11944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63428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F0B271-1981-31FA-AAB2-60427CC3E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464925"/>
            <a:ext cx="2956816" cy="7742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951F2C-D8C8-19B0-2230-7B058C87EBB7}"/>
              </a:ext>
            </a:extLst>
          </p:cNvPr>
          <p:cNvSpPr txBox="1"/>
          <p:nvPr/>
        </p:nvSpPr>
        <p:spPr>
          <a:xfrm>
            <a:off x="397164" y="1405438"/>
            <a:ext cx="973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What is the total monthly payroll processed?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E293AB-275C-1D84-58BE-BAB01612A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89" y="2257066"/>
            <a:ext cx="8762084" cy="20816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D338F4-DD46-AAB3-079E-596B9EC0C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88" y="4455561"/>
            <a:ext cx="5361523" cy="14741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52489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35171D-A468-4C5B-2B9D-DE032A934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464925"/>
            <a:ext cx="2956816" cy="7742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6BBC26-4A36-F047-BEB8-69008DB70C57}"/>
              </a:ext>
            </a:extLst>
          </p:cNvPr>
          <p:cNvSpPr txBox="1"/>
          <p:nvPr/>
        </p:nvSpPr>
        <p:spPr>
          <a:xfrm>
            <a:off x="397164" y="1405438"/>
            <a:ext cx="973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What is the average bonus given per department?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A87D4-9188-FB73-CBDA-66DBD6582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97" y="2137023"/>
            <a:ext cx="9147294" cy="19558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88157D-3E18-0AC3-5E80-78937FAA5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65" y="4214298"/>
            <a:ext cx="3198207" cy="21241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43777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AAF2CC-1E9F-D4BF-4C2C-94A5C41B2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464925"/>
            <a:ext cx="2956816" cy="7742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5D342D-3E41-D575-54F3-C1CE630DEA4C}"/>
              </a:ext>
            </a:extLst>
          </p:cNvPr>
          <p:cNvSpPr txBox="1"/>
          <p:nvPr/>
        </p:nvSpPr>
        <p:spPr>
          <a:xfrm>
            <a:off x="397164" y="1405438"/>
            <a:ext cx="973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Which department receives the highest total bonuses?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244F3A-5D28-3868-7E9D-6F72DF5A1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66" y="2183783"/>
            <a:ext cx="9580877" cy="19633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5BD0F9-251B-4A63-5BD8-BE3527EA8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66" y="4253884"/>
            <a:ext cx="3822471" cy="19428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57410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E08FEE-A0B3-5B92-D3E0-D2CCBA0F9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8" y="464925"/>
            <a:ext cx="2956816" cy="7742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5721BD-9342-6299-16F7-85897F277B3E}"/>
              </a:ext>
            </a:extLst>
          </p:cNvPr>
          <p:cNvSpPr txBox="1"/>
          <p:nvPr/>
        </p:nvSpPr>
        <p:spPr>
          <a:xfrm>
            <a:off x="397165" y="1405438"/>
            <a:ext cx="11333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Aptos Black" panose="020B0004020202020204" pitchFamily="34" charset="0"/>
              </a:rPr>
              <a:t>What is the average value of total amount after considering leave deductions?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DCC362-07A8-E3B9-843A-853AE7174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65" y="2472723"/>
            <a:ext cx="11609653" cy="17557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4FB9E8-7D7F-46CE-D06C-DA361F6B1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65" y="4367050"/>
            <a:ext cx="4389602" cy="12117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10027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DE40D0-6AD0-7727-4BDC-CF57F808B378}"/>
              </a:ext>
            </a:extLst>
          </p:cNvPr>
          <p:cNvSpPr txBox="1"/>
          <p:nvPr/>
        </p:nvSpPr>
        <p:spPr>
          <a:xfrm>
            <a:off x="484094" y="576312"/>
            <a:ext cx="11223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Final business insights and recommendations :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26C73A-78D4-9696-DC1B-D001E1E67DDB}"/>
              </a:ext>
            </a:extLst>
          </p:cNvPr>
          <p:cNvSpPr txBox="1"/>
          <p:nvPr/>
        </p:nvSpPr>
        <p:spPr>
          <a:xfrm>
            <a:off x="484094" y="1541929"/>
            <a:ext cx="1086522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Departments with more employees may require additional resources and better management oversight.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Highest-paid roles indicate key positions; these employees should be retained and motivated.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Average salaries and total salary expenditures help in budget planning and financial forecasting.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Employees with multiple qualifications can be considered for promotions or critical projects.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Tracking leaves and absence patterns helps in workforce planning and minimizing productivity loss.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Payroll and bonus analysis can optimize compensation strategies and reward performance effectively.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Data-driven insights support HR decisions in recruitment, training, and role allocation.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Monitoring employee trends ensures better operational efficiency and organizational growth.</a:t>
            </a:r>
          </a:p>
        </p:txBody>
      </p:sp>
    </p:spTree>
    <p:extLst>
      <p:ext uri="{BB962C8B-B14F-4D97-AF65-F5344CB8AC3E}">
        <p14:creationId xmlns:p14="http://schemas.microsoft.com/office/powerpoint/2010/main" val="3657759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AD05E5-1D83-016A-756E-55FA86B433E8}"/>
              </a:ext>
            </a:extLst>
          </p:cNvPr>
          <p:cNvSpPr txBox="1"/>
          <p:nvPr/>
        </p:nvSpPr>
        <p:spPr>
          <a:xfrm>
            <a:off x="537881" y="896471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Conclusion: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43DBE3-2F24-FE9C-F516-960B595EB9D9}"/>
              </a:ext>
            </a:extLst>
          </p:cNvPr>
          <p:cNvSpPr txBox="1"/>
          <p:nvPr/>
        </p:nvSpPr>
        <p:spPr>
          <a:xfrm>
            <a:off x="537881" y="1963271"/>
            <a:ext cx="1084729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Employee Management System helps store and manage all employee-related data in one place.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SQL queries make it easy to analyze departments, salaries, leaves, and qualifications.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project provides clear insights that support better HR decisions and planning.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Overall, the system improves data organization, accuracy, and understanding of employee activities.</a:t>
            </a:r>
          </a:p>
        </p:txBody>
      </p:sp>
    </p:spTree>
    <p:extLst>
      <p:ext uri="{BB962C8B-B14F-4D97-AF65-F5344CB8AC3E}">
        <p14:creationId xmlns:p14="http://schemas.microsoft.com/office/powerpoint/2010/main" val="31748274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B0DBCD-97F8-0FD9-96D6-050F23B12137}"/>
              </a:ext>
            </a:extLst>
          </p:cNvPr>
          <p:cNvSpPr txBox="1"/>
          <p:nvPr/>
        </p:nvSpPr>
        <p:spPr>
          <a:xfrm>
            <a:off x="439271" y="959223"/>
            <a:ext cx="3101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Challenges: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62081B-D0B7-2DAA-C810-2D1BA60B885E}"/>
              </a:ext>
            </a:extLst>
          </p:cNvPr>
          <p:cNvSpPr txBox="1"/>
          <p:nvPr/>
        </p:nvSpPr>
        <p:spPr>
          <a:xfrm>
            <a:off x="439271" y="2034988"/>
            <a:ext cx="1104451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Handling large and interconnected employee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Ensuring accurate relationships between tables using foreign keys.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Cleaning and formatting salary and leave data for proper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Writing SQL queries that join multiple tables correctly.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Maintaining data consistency and avoiding duplicate entries.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Understanding and analyzing different patterns like salary trends and leave behavior.</a:t>
            </a:r>
          </a:p>
        </p:txBody>
      </p:sp>
    </p:spTree>
    <p:extLst>
      <p:ext uri="{BB962C8B-B14F-4D97-AF65-F5344CB8AC3E}">
        <p14:creationId xmlns:p14="http://schemas.microsoft.com/office/powerpoint/2010/main" val="36281387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ed and white cube with black letters&#10;&#10;AI-generated content may be incorrect.">
            <a:extLst>
              <a:ext uri="{FF2B5EF4-FFF2-40B4-BE49-F238E27FC236}">
                <a16:creationId xmlns:a16="http://schemas.microsoft.com/office/drawing/2014/main" id="{BFB10393-993A-ED2B-3F44-E2A81069E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0" y="690379"/>
            <a:ext cx="11950700" cy="501929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13158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620</Words>
  <Application>Microsoft Office PowerPoint</Application>
  <PresentationFormat>Widescreen</PresentationFormat>
  <Paragraphs>65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Times New Roman</vt:lpstr>
      <vt:lpstr>Aptos Black</vt:lpstr>
      <vt:lpstr>Calibri</vt:lpstr>
      <vt:lpstr>Libre Baskerville</vt:lpstr>
      <vt:lpstr>Arial</vt:lpstr>
      <vt:lpstr>Office Theme</vt:lpstr>
      <vt:lpstr>PowerPoint Presentation</vt:lpstr>
      <vt:lpstr>PowerPoint Presentation</vt:lpstr>
      <vt:lpstr>Objective of the Project: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sai bolla</cp:lastModifiedBy>
  <cp:revision>7</cp:revision>
  <dcterms:created xsi:type="dcterms:W3CDTF">2021-02-16T05:19:01Z</dcterms:created>
  <dcterms:modified xsi:type="dcterms:W3CDTF">2025-12-04T16:22:03Z</dcterms:modified>
</cp:coreProperties>
</file>